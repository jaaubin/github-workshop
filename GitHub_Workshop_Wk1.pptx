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0" r:id="rId5"/>
    <p:sldId id="261" r:id="rId6"/>
    <p:sldId id="274" r:id="rId7"/>
    <p:sldId id="276" r:id="rId8"/>
    <p:sldId id="277" r:id="rId9"/>
    <p:sldId id="278" r:id="rId10"/>
    <p:sldId id="279" r:id="rId11"/>
    <p:sldId id="308" r:id="rId12"/>
    <p:sldId id="303" r:id="rId13"/>
    <p:sldId id="304" r:id="rId14"/>
    <p:sldId id="307" r:id="rId15"/>
    <p:sldId id="309" r:id="rId16"/>
    <p:sldId id="281" r:id="rId17"/>
    <p:sldId id="282" r:id="rId18"/>
    <p:sldId id="310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311" r:id="rId28"/>
    <p:sldId id="291" r:id="rId29"/>
    <p:sldId id="292" r:id="rId30"/>
    <p:sldId id="293" r:id="rId31"/>
    <p:sldId id="312" r:id="rId32"/>
    <p:sldId id="296" r:id="rId33"/>
    <p:sldId id="297" r:id="rId34"/>
    <p:sldId id="298" r:id="rId35"/>
    <p:sldId id="299" r:id="rId36"/>
    <p:sldId id="300" r:id="rId37"/>
    <p:sldId id="295" r:id="rId38"/>
    <p:sldId id="305" r:id="rId39"/>
    <p:sldId id="306" r:id="rId40"/>
    <p:sldId id="26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8D736-24B3-4615-9A87-596F0294877F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5CF28-8E72-4CAE-ACE6-94AF86DFDF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73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310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7421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6694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8524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0FCD7-E126-4FDE-B8DB-82352744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32B9E-F493-0ECD-1BC7-C1EAC1759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75356-10AF-770C-4037-7C064F200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DBCF2-C7BD-8A4C-39D8-E12BD6755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9266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9652-DC67-3687-3D67-AD8449C3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09AD2-7BC7-74E9-A2F5-CDF0349D2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E7CC8-F719-C8CA-1E92-52CE0D52F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A0A3F-54E0-2C72-0683-2DDBA0DD6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5445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https://github.com/JAAubin/GitHub-Workshop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0445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5654E-CD2F-DA46-3487-67FE6CF8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062BE-C28A-03ED-8808-F9E6C8BE8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FF254-F6BF-4391-83A9-C39265A3D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This </a:t>
            </a:r>
            <a:r>
              <a:rPr lang="fr-CA" dirty="0" err="1"/>
              <a:t>gives</a:t>
            </a:r>
            <a:r>
              <a:rPr lang="fr-CA" dirty="0"/>
              <a:t> </a:t>
            </a:r>
            <a:r>
              <a:rPr lang="fr-CA" dirty="0" err="1"/>
              <a:t>Rstudio</a:t>
            </a:r>
            <a:r>
              <a:rPr lang="fr-CA" dirty="0"/>
              <a:t> permission to </a:t>
            </a:r>
            <a:r>
              <a:rPr lang="fr-CA" dirty="0" err="1"/>
              <a:t>directly</a:t>
            </a:r>
            <a:r>
              <a:rPr lang="fr-CA" dirty="0"/>
              <a:t> </a:t>
            </a:r>
            <a:r>
              <a:rPr lang="fr-CA" dirty="0" err="1"/>
              <a:t>access</a:t>
            </a:r>
            <a:r>
              <a:rPr lang="fr-CA" dirty="0"/>
              <a:t> </a:t>
            </a:r>
            <a:r>
              <a:rPr lang="fr-CA" dirty="0" err="1"/>
              <a:t>your</a:t>
            </a:r>
            <a:r>
              <a:rPr lang="fr-CA" dirty="0"/>
              <a:t> Repositories 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519E7-0587-9ACA-BAD2-A7833CDE7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5CF28-8E72-4CAE-ACE6-94AF86DFDF38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532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A6F7E-3BC8-08D6-F6F3-2DBD1F5F7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2A866-C0C0-2CDE-5365-C8A5D1676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2A96A-6B8F-BEDE-D4D5-37B7B9D7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7097E-309D-61B1-FD1B-54F98251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7BFED-ED68-72E1-A8A3-DF581B98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094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4833-DCF6-B092-52AA-62DF0418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082BE-61C8-C6B3-5C4C-48456A3DB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19E7-B22B-3788-F9B2-44317B49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05A6C-63BE-21CC-4E6A-F8690C11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5FBA8-925D-4832-E7B8-D13AD95E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906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173E-53E1-2F7D-B83C-3EDF660C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0219-81CD-0F4C-50A6-58862A0D0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469A7-8EA6-3983-1D62-82CE7476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3FF9F-CA89-DA05-9E34-8A5F2C37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22D1-35FE-C820-C1D5-982D85D9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4453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73C4A-7DC2-7DD3-F883-B96AB192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C43A8-06B5-1ABA-218F-1E4F05F10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52429-FC74-2B20-654E-342EC4540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B4D6C-11C9-5841-F073-D59D0745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00A85-D953-2974-91EA-7F6F22C3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A350F-5E29-4307-A63E-FA1F550A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982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C16A-A087-B1F9-E979-8CEEA205E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1C7BD-279B-CAC2-E58E-F8384FE42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69176-EF51-BE0A-0591-E20544115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184AD-CB40-8003-5BFF-BD255791B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FA621-3D2E-00A7-D8F4-EBEB9E75B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F66AD-E40F-AD92-78B7-A465B8E8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C6393-F16F-908C-CF6E-B02EF70B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ADFB75-A007-336C-6883-9A4AEA98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53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D761-FE23-19C2-CB5D-73768E7B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C51F8-0A04-9A45-0253-941F7F505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7E1B6-F3E1-ED89-0963-BF072D8F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06D1D-E777-B8C2-3518-3F7FC7FF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707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4A517-058F-2D96-1647-F8A080A5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849EE-390E-9745-0602-6C69F0A7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84E90-5A6E-D04D-CD35-EAE79DF8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678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92B4-B87A-4F57-E8D5-D7C42680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FAFFA-7CF8-0748-9948-5490CCBAC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0A2D5-CCED-37F0-1FB0-1BE496523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1E53-FB22-D095-157D-504757D05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30EAB-8395-7126-00B0-B4E8592E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A7D2D-8F94-AFF9-37E8-BBF30B79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28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BC13-3B2E-0F4A-B665-2D378A37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C3128-7810-74E1-50AC-133D020BD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CF126-97AF-E2DF-D4E0-9C04B065B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44BDA-140C-5E03-1D51-B30E7E57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D20B1-B5FC-FD33-CF64-18581F37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6C46F-07D6-7E27-A3E3-12951D6B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630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9B64-1CCA-EBF2-CD90-72416FB4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72301-29BA-28FC-8936-ED435E103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3073C-4690-FA77-924C-89377867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22EF5-DFE0-5A2C-4F3F-15FFD382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53767-EB2F-9DA5-E349-EDE12D6FE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174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F0914F-0859-98D5-9F88-DF555E298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6212-692C-4EA2-5806-DF048E0E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6DB14-7E4D-735F-D70E-642B8C4E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99459-051D-11B6-B103-548DD227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56F5A-4CF7-0C7C-0EE6-8953B8CD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222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DD13D-ACA5-5472-2ED7-D641C090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EFB5E-5A2D-2F9B-ACA2-B2380EA78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AA34-0521-DFB3-EDEE-6D37BEC01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8232E-CE54-426E-9648-547DA0CE0D02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17A6F-B7E8-01F9-3F31-F2B23BE03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D45F6-7E06-6C50-AA77-3E8E760C1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72ABC-6AF3-4597-94F1-6F583AA8DB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009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5221-902D-CFB0-CF41-9BFF03B2A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6880" y="2789238"/>
            <a:ext cx="9144000" cy="2387600"/>
          </a:xfrm>
        </p:spPr>
        <p:txBody>
          <a:bodyPr/>
          <a:lstStyle/>
          <a:p>
            <a:r>
              <a:rPr lang="fr-CA" dirty="0"/>
              <a:t>GitHub &amp; </a:t>
            </a:r>
            <a:r>
              <a:rPr lang="fr-CA" dirty="0" err="1"/>
              <a:t>Rstudio</a:t>
            </a:r>
            <a:r>
              <a:rPr lang="fr-CA" dirty="0"/>
              <a:t> workshop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D80F6-8D4F-C9A7-0549-D94DAA35C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120" y="5262880"/>
            <a:ext cx="9144000" cy="1264920"/>
          </a:xfrm>
        </p:spPr>
        <p:txBody>
          <a:bodyPr>
            <a:normAutofit/>
          </a:bodyPr>
          <a:lstStyle/>
          <a:p>
            <a:r>
              <a:rPr lang="en-CA" sz="3200" dirty="0"/>
              <a:t>Jaclyn Aubin</a:t>
            </a:r>
          </a:p>
          <a:p>
            <a:r>
              <a:rPr lang="en-CA" sz="3200" dirty="0"/>
              <a:t>March 19,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2D8EFA-5122-73E3-E15B-383C1967F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8" b="10762"/>
          <a:stretch>
            <a:fillRect/>
          </a:stretch>
        </p:blipFill>
        <p:spPr>
          <a:xfrm>
            <a:off x="2164273" y="213360"/>
            <a:ext cx="7721213" cy="40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0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4B85-F835-2CE4-3948-025D03D3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7542"/>
            <a:ext cx="10515600" cy="1325563"/>
          </a:xfrm>
        </p:spPr>
        <p:txBody>
          <a:bodyPr/>
          <a:lstStyle/>
          <a:p>
            <a:r>
              <a:rPr lang="fr-CA" dirty="0"/>
              <a:t>Pre-workshop </a:t>
            </a:r>
            <a:r>
              <a:rPr lang="fr-CA" dirty="0" err="1"/>
              <a:t>assignments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F23F0-4A0F-FC9E-7B7C-A64F7E26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27"/>
            <a:ext cx="10515600" cy="4351338"/>
          </a:xfrm>
        </p:spPr>
        <p:txBody>
          <a:bodyPr/>
          <a:lstStyle/>
          <a:p>
            <a:endParaRPr lang="fr-CA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fr-CA" sz="3200" dirty="0"/>
              <a:t>Update </a:t>
            </a:r>
            <a:r>
              <a:rPr lang="fr-CA" sz="3200" dirty="0" err="1"/>
              <a:t>RStudio</a:t>
            </a:r>
            <a:endParaRPr lang="en-CA" sz="32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CA" sz="3200" dirty="0"/>
              <a:t>Create a GitHub account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CA" sz="3200" dirty="0"/>
              <a:t>Send me your GitHub username and email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CA" sz="3200" dirty="0"/>
              <a:t>Download Git to your computer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414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BC82-DBE9-9957-C844-3BCD6272F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fr-CA" dirty="0"/>
              <a:t>Goals of </a:t>
            </a:r>
            <a:r>
              <a:rPr lang="fr-CA" dirty="0" err="1"/>
              <a:t>this</a:t>
            </a:r>
            <a:r>
              <a:rPr lang="fr-CA" dirty="0"/>
              <a:t> workshop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4337-31FD-3E19-E789-2FAFFE9E2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708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CA" sz="3200" dirty="0"/>
              <a:t>Gain </a:t>
            </a:r>
            <a:r>
              <a:rPr lang="fr-CA" sz="3200" dirty="0" err="1"/>
              <a:t>familiarity</a:t>
            </a:r>
            <a:r>
              <a:rPr lang="fr-CA" sz="3200" dirty="0"/>
              <a:t> </a:t>
            </a:r>
            <a:r>
              <a:rPr lang="fr-CA" sz="3200" dirty="0" err="1"/>
              <a:t>with</a:t>
            </a:r>
            <a:r>
              <a:rPr lang="fr-CA" sz="3200" dirty="0"/>
              <a:t> GitHub and </a:t>
            </a:r>
            <a:r>
              <a:rPr lang="fr-CA" sz="3200" dirty="0" err="1"/>
              <a:t>its</a:t>
            </a:r>
            <a:r>
              <a:rPr lang="fr-CA" sz="3200" dirty="0"/>
              <a:t> R Studio interface </a:t>
            </a:r>
          </a:p>
          <a:p>
            <a:pPr>
              <a:lnSpc>
                <a:spcPct val="150000"/>
              </a:lnSpc>
            </a:pPr>
            <a:r>
              <a:rPr lang="fr-CA" sz="3200" dirty="0" err="1"/>
              <a:t>Get</a:t>
            </a:r>
            <a:r>
              <a:rPr lang="fr-CA" sz="3200" dirty="0"/>
              <a:t> </a:t>
            </a:r>
            <a:r>
              <a:rPr lang="fr-CA" sz="3200" dirty="0" err="1"/>
              <a:t>comfortable</a:t>
            </a:r>
            <a:r>
              <a:rPr lang="fr-CA" sz="3200" dirty="0"/>
              <a:t> </a:t>
            </a:r>
            <a:r>
              <a:rPr lang="fr-CA" sz="3200" dirty="0" err="1"/>
              <a:t>using</a:t>
            </a:r>
            <a:r>
              <a:rPr lang="fr-CA" sz="3200" dirty="0"/>
              <a:t> GitHub for version control</a:t>
            </a:r>
          </a:p>
          <a:p>
            <a:pPr>
              <a:lnSpc>
                <a:spcPct val="150000"/>
              </a:lnSpc>
            </a:pPr>
            <a:r>
              <a:rPr lang="en-CA" sz="3200" dirty="0"/>
              <a:t>Set yourself up for success by updating your R code to GitHub </a:t>
            </a:r>
            <a:r>
              <a:rPr lang="en-CA" sz="3200" b="1" dirty="0"/>
              <a:t>often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22809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E307-3332-48B7-7FA7-4FDAFB8D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Definitions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A214-D929-BFB7-83C9-B071D74C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1690688"/>
            <a:ext cx="10515600" cy="459549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fr-CA" b="1" dirty="0"/>
              <a:t>Git</a:t>
            </a:r>
            <a:r>
              <a:rPr lang="fr-CA" dirty="0"/>
              <a:t>: version control software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fr-CA" b="1" dirty="0"/>
              <a:t>GitHub</a:t>
            </a:r>
            <a:r>
              <a:rPr lang="fr-CA" dirty="0"/>
              <a:t>: a </a:t>
            </a:r>
            <a:r>
              <a:rPr lang="fr-CA" dirty="0" err="1"/>
              <a:t>website</a:t>
            </a:r>
            <a:r>
              <a:rPr lang="fr-CA" dirty="0"/>
              <a:t> </a:t>
            </a:r>
            <a:r>
              <a:rPr lang="fr-CA" dirty="0" err="1"/>
              <a:t>that</a:t>
            </a:r>
            <a:r>
              <a:rPr lang="fr-CA" dirty="0"/>
              <a:t> hosts Git repositories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fr-CA" b="1" dirty="0"/>
              <a:t>Repository</a:t>
            </a:r>
            <a:r>
              <a:rPr lang="fr-CA" dirty="0"/>
              <a:t>: a folder on </a:t>
            </a:r>
            <a:r>
              <a:rPr lang="fr-CA" dirty="0" err="1"/>
              <a:t>Github</a:t>
            </a:r>
            <a:r>
              <a:rPr lang="fr-CA" dirty="0"/>
              <a:t> </a:t>
            </a:r>
            <a:r>
              <a:rPr lang="fr-CA" dirty="0" err="1"/>
              <a:t>that</a:t>
            </a:r>
            <a:r>
              <a:rPr lang="fr-CA" dirty="0"/>
              <a:t> stores all files and code for a </a:t>
            </a:r>
            <a:r>
              <a:rPr lang="fr-CA" dirty="0" err="1"/>
              <a:t>project</a:t>
            </a:r>
            <a:r>
              <a:rPr lang="fr-CA" dirty="0"/>
              <a:t>, </a:t>
            </a:r>
            <a:r>
              <a:rPr lang="fr-CA" dirty="0" err="1"/>
              <a:t>along</a:t>
            </a:r>
            <a:r>
              <a:rPr lang="fr-CA" dirty="0"/>
              <a:t> </a:t>
            </a:r>
            <a:r>
              <a:rPr lang="fr-CA" dirty="0" err="1"/>
              <a:t>with</a:t>
            </a:r>
            <a:r>
              <a:rPr lang="fr-CA" dirty="0"/>
              <a:t> the </a:t>
            </a:r>
            <a:r>
              <a:rPr lang="fr-CA" dirty="0" err="1"/>
              <a:t>complete</a:t>
            </a:r>
            <a:r>
              <a:rPr lang="fr-CA" dirty="0"/>
              <a:t> </a:t>
            </a:r>
            <a:r>
              <a:rPr lang="fr-CA" dirty="0" err="1"/>
              <a:t>history</a:t>
            </a:r>
            <a:r>
              <a:rPr lang="fr-CA" dirty="0"/>
              <a:t> of all changes</a:t>
            </a:r>
          </a:p>
          <a:p>
            <a:pPr>
              <a:spcAft>
                <a:spcPts val="1000"/>
              </a:spcAft>
            </a:pPr>
            <a:r>
              <a:rPr lang="fr-CA" b="1" dirty="0" err="1"/>
              <a:t>Committing</a:t>
            </a:r>
            <a:r>
              <a:rPr lang="fr-CA" dirty="0"/>
              <a:t>: </a:t>
            </a:r>
            <a:r>
              <a:rPr lang="fr-CA" dirty="0" err="1"/>
              <a:t>saving</a:t>
            </a:r>
            <a:r>
              <a:rPr lang="fr-CA" dirty="0"/>
              <a:t> </a:t>
            </a:r>
            <a:r>
              <a:rPr lang="fr-CA" dirty="0" err="1"/>
              <a:t>your</a:t>
            </a:r>
            <a:r>
              <a:rPr lang="fr-CA" dirty="0"/>
              <a:t> (</a:t>
            </a:r>
            <a:r>
              <a:rPr lang="fr-CA" dirty="0" err="1"/>
              <a:t>annotated</a:t>
            </a:r>
            <a:r>
              <a:rPr lang="fr-CA" dirty="0"/>
              <a:t>) </a:t>
            </a:r>
            <a:r>
              <a:rPr lang="fr-CA" dirty="0" err="1"/>
              <a:t>edits</a:t>
            </a:r>
            <a:r>
              <a:rPr lang="fr-CA" dirty="0"/>
              <a:t> </a:t>
            </a:r>
            <a:r>
              <a:rPr lang="fr-CA" dirty="0" err="1"/>
              <a:t>locally</a:t>
            </a:r>
            <a:endParaRPr lang="fr-CA" dirty="0"/>
          </a:p>
          <a:p>
            <a:pPr>
              <a:spcAft>
                <a:spcPts val="1000"/>
              </a:spcAft>
            </a:pPr>
            <a:r>
              <a:rPr lang="fr-CA" b="1" dirty="0"/>
              <a:t>Pushing: </a:t>
            </a:r>
            <a:r>
              <a:rPr lang="fr-CA" dirty="0" err="1"/>
              <a:t>saving</a:t>
            </a:r>
            <a:r>
              <a:rPr lang="fr-CA" dirty="0"/>
              <a:t> </a:t>
            </a:r>
            <a:r>
              <a:rPr lang="fr-CA" dirty="0" err="1"/>
              <a:t>your</a:t>
            </a:r>
            <a:r>
              <a:rPr lang="fr-CA" dirty="0"/>
              <a:t> </a:t>
            </a:r>
            <a:r>
              <a:rPr lang="fr-CA" dirty="0" err="1"/>
              <a:t>edits</a:t>
            </a:r>
            <a:r>
              <a:rPr lang="fr-CA" dirty="0"/>
              <a:t> to GitHub</a:t>
            </a:r>
          </a:p>
          <a:p>
            <a:pPr>
              <a:spcAft>
                <a:spcPts val="1000"/>
              </a:spcAft>
            </a:pPr>
            <a:r>
              <a:rPr lang="fr-CA" b="1" dirty="0" err="1"/>
              <a:t>Pulling</a:t>
            </a:r>
            <a:r>
              <a:rPr lang="fr-CA" b="1" dirty="0"/>
              <a:t>: </a:t>
            </a:r>
            <a:r>
              <a:rPr lang="fr-CA" dirty="0" err="1"/>
              <a:t>downloading</a:t>
            </a:r>
            <a:r>
              <a:rPr lang="fr-CA" dirty="0"/>
              <a:t> the </a:t>
            </a:r>
            <a:r>
              <a:rPr lang="fr-CA" dirty="0" err="1"/>
              <a:t>latest</a:t>
            </a:r>
            <a:r>
              <a:rPr lang="fr-CA" dirty="0"/>
              <a:t> version of a repo </a:t>
            </a:r>
            <a:r>
              <a:rPr lang="fr-CA" dirty="0" err="1"/>
              <a:t>from</a:t>
            </a:r>
            <a:r>
              <a:rPr lang="fr-CA" dirty="0"/>
              <a:t> GitHub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747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42F7A-BA18-C9F0-08B9-181C5D80C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Why</a:t>
            </a:r>
            <a:r>
              <a:rPr lang="fr-CA" dirty="0"/>
              <a:t> use GitHub?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A844E-1859-F74A-7862-85730DC1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fr-CA" sz="3200" dirty="0" err="1"/>
              <a:t>Keeps</a:t>
            </a:r>
            <a:r>
              <a:rPr lang="fr-CA" sz="3200" dirty="0"/>
              <a:t> </a:t>
            </a:r>
            <a:r>
              <a:rPr lang="fr-CA" sz="3200" dirty="0" err="1"/>
              <a:t>your</a:t>
            </a:r>
            <a:r>
              <a:rPr lang="fr-CA" sz="3200" dirty="0"/>
              <a:t> code </a:t>
            </a:r>
            <a:r>
              <a:rPr lang="fr-CA" sz="3200" dirty="0" err="1"/>
              <a:t>safely</a:t>
            </a:r>
            <a:r>
              <a:rPr lang="fr-CA" sz="3200" dirty="0"/>
              <a:t> </a:t>
            </a:r>
            <a:r>
              <a:rPr lang="fr-CA" sz="3200" dirty="0" err="1"/>
              <a:t>backed</a:t>
            </a:r>
            <a:r>
              <a:rPr lang="fr-CA" sz="3200" dirty="0"/>
              <a:t> up</a:t>
            </a:r>
          </a:p>
          <a:p>
            <a:pPr>
              <a:lnSpc>
                <a:spcPct val="150000"/>
              </a:lnSpc>
            </a:pPr>
            <a:r>
              <a:rPr lang="fr-CA" sz="3200" dirty="0" err="1"/>
              <a:t>Allows</a:t>
            </a:r>
            <a:r>
              <a:rPr lang="fr-CA" sz="3200" dirty="0"/>
              <a:t> for version control (a time machine for </a:t>
            </a:r>
            <a:r>
              <a:rPr lang="fr-CA" sz="3200" dirty="0" err="1"/>
              <a:t>your</a:t>
            </a:r>
            <a:r>
              <a:rPr lang="fr-CA" sz="3200" dirty="0"/>
              <a:t> code)</a:t>
            </a:r>
          </a:p>
          <a:p>
            <a:pPr>
              <a:lnSpc>
                <a:spcPct val="150000"/>
              </a:lnSpc>
            </a:pPr>
            <a:r>
              <a:rPr lang="fr-CA" sz="3200" dirty="0" err="1"/>
              <a:t>Allows</a:t>
            </a:r>
            <a:r>
              <a:rPr lang="fr-CA" sz="3200" dirty="0"/>
              <a:t> for </a:t>
            </a:r>
            <a:r>
              <a:rPr lang="fr-CA" sz="3200" dirty="0" err="1"/>
              <a:t>simultaneous</a:t>
            </a:r>
            <a:r>
              <a:rPr lang="fr-CA" sz="3200" dirty="0"/>
              <a:t> collaborative </a:t>
            </a:r>
            <a:r>
              <a:rPr lang="fr-CA" sz="3200" dirty="0" err="1"/>
              <a:t>coding</a:t>
            </a:r>
            <a:endParaRPr lang="fr-CA" sz="3200" dirty="0"/>
          </a:p>
          <a:p>
            <a:pPr>
              <a:lnSpc>
                <a:spcPct val="150000"/>
              </a:lnSpc>
            </a:pPr>
            <a:r>
              <a:rPr lang="fr-CA" sz="3200" dirty="0"/>
              <a:t>The gold standard for sharing and </a:t>
            </a:r>
            <a:r>
              <a:rPr lang="fr-CA" sz="3200" dirty="0" err="1"/>
              <a:t>publishing</a:t>
            </a:r>
            <a:r>
              <a:rPr lang="fr-CA" sz="3200" dirty="0"/>
              <a:t> code</a:t>
            </a:r>
          </a:p>
          <a:p>
            <a:pPr>
              <a:lnSpc>
                <a:spcPct val="150000"/>
              </a:lnSpc>
            </a:pPr>
            <a:r>
              <a:rPr lang="fr-CA" sz="3200" dirty="0"/>
              <a:t>Git </a:t>
            </a:r>
            <a:r>
              <a:rPr lang="fr-CA" sz="3200" dirty="0" err="1"/>
              <a:t>is</a:t>
            </a:r>
            <a:r>
              <a:rPr lang="fr-CA" sz="3200" dirty="0"/>
              <a:t> open source and GitHub </a:t>
            </a:r>
            <a:r>
              <a:rPr lang="fr-CA" sz="3200" dirty="0" err="1"/>
              <a:t>is</a:t>
            </a:r>
            <a:r>
              <a:rPr lang="fr-CA" sz="3200" dirty="0"/>
              <a:t> free for </a:t>
            </a:r>
            <a:r>
              <a:rPr lang="fr-CA" sz="3200" dirty="0" err="1"/>
              <a:t>most</a:t>
            </a:r>
            <a:r>
              <a:rPr lang="fr-CA" sz="3200" dirty="0"/>
              <a:t> applications</a:t>
            </a:r>
          </a:p>
          <a:p>
            <a:pPr marL="0" indent="0">
              <a:buNone/>
            </a:pPr>
            <a:endParaRPr lang="fr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76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3C0E3-B9CF-DDA6-74CF-3DE9E131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08E5-E07F-AC5E-71FC-4C01B242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4ECDA1-D69C-1FC5-6AF6-F3EAF3B2D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2563"/>
            <a:ext cx="12192000" cy="646131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4FC17B0-E0CE-6A35-98B2-1AC74A020ABF}"/>
              </a:ext>
            </a:extLst>
          </p:cNvPr>
          <p:cNvSpPr/>
          <p:nvPr/>
        </p:nvSpPr>
        <p:spPr>
          <a:xfrm>
            <a:off x="10952480" y="365125"/>
            <a:ext cx="1239520" cy="5994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A0975-EA88-C328-FF34-D6C4F249E6F0}"/>
              </a:ext>
            </a:extLst>
          </p:cNvPr>
          <p:cNvSpPr txBox="1"/>
          <p:nvPr/>
        </p:nvSpPr>
        <p:spPr>
          <a:xfrm>
            <a:off x="10016005" y="44134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FF0000"/>
                </a:solidFill>
              </a:rPr>
              <a:t>Project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54503-EFC6-EA66-6C52-5479E7C0ACAD}"/>
              </a:ext>
            </a:extLst>
          </p:cNvPr>
          <p:cNvSpPr/>
          <p:nvPr/>
        </p:nvSpPr>
        <p:spPr>
          <a:xfrm>
            <a:off x="81280" y="812800"/>
            <a:ext cx="8249920" cy="3322320"/>
          </a:xfrm>
          <a:prstGeom prst="roundRect">
            <a:avLst>
              <a:gd name="adj" fmla="val 871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70305-06D9-3E38-253C-40623D1907A6}"/>
              </a:ext>
            </a:extLst>
          </p:cNvPr>
          <p:cNvSpPr txBox="1"/>
          <p:nvPr/>
        </p:nvSpPr>
        <p:spPr>
          <a:xfrm>
            <a:off x="4530482" y="1321356"/>
            <a:ext cx="10920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200" b="1" dirty="0">
                <a:solidFill>
                  <a:srgbClr val="FF0000"/>
                </a:solidFill>
              </a:rPr>
              <a:t>Source</a:t>
            </a:r>
            <a:endParaRPr lang="en-CA" sz="2200" b="1"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017E23-3C40-DAAD-412F-721CE88A7326}"/>
              </a:ext>
            </a:extLst>
          </p:cNvPr>
          <p:cNvSpPr/>
          <p:nvPr/>
        </p:nvSpPr>
        <p:spPr>
          <a:xfrm>
            <a:off x="0" y="4236719"/>
            <a:ext cx="8331200" cy="2438717"/>
          </a:xfrm>
          <a:prstGeom prst="roundRect">
            <a:avLst>
              <a:gd name="adj" fmla="val 871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BE106-5AD8-E2A4-130A-FC85247A1CAD}"/>
              </a:ext>
            </a:extLst>
          </p:cNvPr>
          <p:cNvSpPr txBox="1"/>
          <p:nvPr/>
        </p:nvSpPr>
        <p:spPr>
          <a:xfrm>
            <a:off x="5749682" y="4836716"/>
            <a:ext cx="12570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200" b="1" dirty="0">
                <a:solidFill>
                  <a:srgbClr val="FF0000"/>
                </a:solidFill>
              </a:rPr>
              <a:t>Console</a:t>
            </a:r>
            <a:endParaRPr lang="en-CA" sz="2200" b="1" dirty="0">
              <a:solidFill>
                <a:srgbClr val="FF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960608-3227-83E3-EF22-0AB46FDE75B2}"/>
              </a:ext>
            </a:extLst>
          </p:cNvPr>
          <p:cNvSpPr txBox="1">
            <a:spLocks/>
          </p:cNvSpPr>
          <p:nvPr/>
        </p:nvSpPr>
        <p:spPr>
          <a:xfrm>
            <a:off x="3606800" y="-220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dirty="0"/>
              <a:t>Intro/</a:t>
            </a:r>
            <a:r>
              <a:rPr lang="fr-CA" dirty="0" err="1"/>
              <a:t>Refresher</a:t>
            </a:r>
            <a:r>
              <a:rPr lang="fr-CA" dirty="0"/>
              <a:t> to R Studio</a:t>
            </a:r>
            <a:endParaRPr lang="en-CA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06F2D72-E251-9988-C150-AB8C3CF1F468}"/>
              </a:ext>
            </a:extLst>
          </p:cNvPr>
          <p:cNvSpPr/>
          <p:nvPr/>
        </p:nvSpPr>
        <p:spPr>
          <a:xfrm rot="16200000">
            <a:off x="508596" y="4550371"/>
            <a:ext cx="659209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628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8" grpId="0"/>
      <p:bldP spid="9" grpId="0" animBg="1"/>
      <p:bldP spid="10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A7DE-E1C9-86FB-815A-F84EAF2E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C2AE-7EE6-C9FE-22B0-938E16F9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FDEF6-D138-9ED7-DED2-6B924078B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2563"/>
            <a:ext cx="12192000" cy="6461316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C0B93163-B30A-5D4A-9CE0-D31F6028E6D7}"/>
              </a:ext>
            </a:extLst>
          </p:cNvPr>
          <p:cNvSpPr/>
          <p:nvPr/>
        </p:nvSpPr>
        <p:spPr>
          <a:xfrm rot="5400000">
            <a:off x="8666480" y="3302000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32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44BB-7549-49DA-38A4-78C21E8B2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BF5B-001D-A22D-5E5F-752077AE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9A7F8F-EC52-0352-55DA-7C674DD33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2563"/>
            <a:ext cx="12192000" cy="6461316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2575F7E5-8872-FF0E-E1F3-B9AE864D15E9}"/>
              </a:ext>
            </a:extLst>
          </p:cNvPr>
          <p:cNvSpPr/>
          <p:nvPr/>
        </p:nvSpPr>
        <p:spPr>
          <a:xfrm rot="5400000">
            <a:off x="9093200" y="3373120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000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F851-0816-6B7F-B20F-9A787E3E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53ED-B0FB-65C2-C10A-1D1172EF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06027-4D3A-5CC5-4C32-44ED3BB02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2563"/>
            <a:ext cx="12192000" cy="6461316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265E40DB-1289-5FC3-A6AA-4B0B13751022}"/>
              </a:ext>
            </a:extLst>
          </p:cNvPr>
          <p:cNvSpPr/>
          <p:nvPr/>
        </p:nvSpPr>
        <p:spPr>
          <a:xfrm rot="5400000">
            <a:off x="8648128" y="283273"/>
            <a:ext cx="570104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3861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44B3-3D3C-E7C5-7279-03F4B9AB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4C4F-08CC-9CE5-DDD1-DEE5D8C5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40C719-2983-4820-368C-1A024FEEE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2563"/>
            <a:ext cx="12192000" cy="6461316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C64C25EB-1001-1E86-AA3C-9D1D059E4C49}"/>
              </a:ext>
            </a:extLst>
          </p:cNvPr>
          <p:cNvSpPr/>
          <p:nvPr/>
        </p:nvSpPr>
        <p:spPr>
          <a:xfrm rot="5400000">
            <a:off x="10212768" y="283273"/>
            <a:ext cx="570104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430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C64B-5BF4-27EF-CFA0-737F6D10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2D3B-F1B0-9C93-F5CF-9E3AA9B2E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560" y="3825558"/>
            <a:ext cx="9144000" cy="2387600"/>
          </a:xfrm>
        </p:spPr>
        <p:txBody>
          <a:bodyPr/>
          <a:lstStyle/>
          <a:p>
            <a:r>
              <a:rPr lang="en-CA" dirty="0"/>
              <a:t>Step 1: Link Git to RStudio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B28413-1D35-1F6E-2372-53458CB83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8" b="10762"/>
          <a:stretch>
            <a:fillRect/>
          </a:stretch>
        </p:blipFill>
        <p:spPr>
          <a:xfrm>
            <a:off x="2143953" y="812800"/>
            <a:ext cx="7721213" cy="40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45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3D27-6805-25FE-A13E-D0979431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787BD-FF32-E687-E91D-A9B15DFC3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08A64-FAC1-27C5-DBA4-A50196620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2" y="4284"/>
            <a:ext cx="10469436" cy="684943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446A6C-46B8-6CA7-7449-43A7A7ECA2F0}"/>
              </a:ext>
            </a:extLst>
          </p:cNvPr>
          <p:cNvSpPr/>
          <p:nvPr/>
        </p:nvSpPr>
        <p:spPr>
          <a:xfrm>
            <a:off x="5076825" y="190500"/>
            <a:ext cx="676275" cy="4905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219194-417B-7A57-B105-6E45B8432FAB}"/>
              </a:ext>
            </a:extLst>
          </p:cNvPr>
          <p:cNvSpPr/>
          <p:nvPr/>
        </p:nvSpPr>
        <p:spPr>
          <a:xfrm>
            <a:off x="5191125" y="5686426"/>
            <a:ext cx="2057400" cy="4905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263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0EC9-E430-2CE9-571A-2AA2291C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B61A-60FD-8A99-72B4-896C694F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949" y="1825625"/>
            <a:ext cx="42218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200" dirty="0"/>
              <a:t>Windows</a:t>
            </a:r>
          </a:p>
          <a:p>
            <a:pPr marL="0" indent="0">
              <a:buNone/>
            </a:pPr>
            <a:r>
              <a:rPr lang="en-CA" sz="2200" dirty="0"/>
              <a:t>C:/Program Files/Git/bin/git.exe</a:t>
            </a:r>
          </a:p>
          <a:p>
            <a:pPr marL="0" indent="0">
              <a:buNone/>
            </a:pPr>
            <a:endParaRPr lang="en-CA" sz="2200" dirty="0"/>
          </a:p>
          <a:p>
            <a:pPr marL="0" indent="0">
              <a:buNone/>
            </a:pPr>
            <a:r>
              <a:rPr lang="en-CA" sz="2200" dirty="0"/>
              <a:t>Mac</a:t>
            </a:r>
          </a:p>
          <a:p>
            <a:pPr marL="0" indent="0">
              <a:buNone/>
            </a:pPr>
            <a:r>
              <a:rPr lang="en-CA" sz="2200" dirty="0"/>
              <a:t>/</a:t>
            </a:r>
            <a:r>
              <a:rPr lang="en-CA" sz="2200" dirty="0" err="1"/>
              <a:t>usr</a:t>
            </a:r>
            <a:r>
              <a:rPr lang="en-CA" sz="2200" dirty="0"/>
              <a:t>/bin/git</a:t>
            </a:r>
          </a:p>
          <a:p>
            <a:pPr marL="0" indent="0">
              <a:buNone/>
            </a:pPr>
            <a:endParaRPr lang="en-CA" sz="2200" dirty="0"/>
          </a:p>
          <a:p>
            <a:pPr marL="0" indent="0">
              <a:buNone/>
            </a:pPr>
            <a:endParaRPr lang="en-CA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8E942-7D48-3975-D224-6607D7B49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8" y="0"/>
            <a:ext cx="6882758" cy="68580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34E7FC3-392F-ACA8-AA74-C3D3970276DB}"/>
              </a:ext>
            </a:extLst>
          </p:cNvPr>
          <p:cNvSpPr/>
          <p:nvPr/>
        </p:nvSpPr>
        <p:spPr>
          <a:xfrm>
            <a:off x="7887" y="4014923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251B19-8741-B5F2-AB01-215CEF4FEE4F}"/>
              </a:ext>
            </a:extLst>
          </p:cNvPr>
          <p:cNvSpPr/>
          <p:nvPr/>
        </p:nvSpPr>
        <p:spPr>
          <a:xfrm>
            <a:off x="2156094" y="1410511"/>
            <a:ext cx="2882833" cy="2801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DFD112-A6F9-DBC8-3FDF-731163BEE4EF}"/>
              </a:ext>
            </a:extLst>
          </p:cNvPr>
          <p:cNvSpPr/>
          <p:nvPr/>
        </p:nvSpPr>
        <p:spPr>
          <a:xfrm>
            <a:off x="6570535" y="6381345"/>
            <a:ext cx="910036" cy="4203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840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7E51-7667-E060-4D3C-19F3A6AB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170F-278A-DDBC-8459-AC4CF1AB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CA" dirty="0"/>
              <a:t>Load your credentials into the terminal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2162D-01E8-C107-4416-4F3392027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82" r="32054"/>
          <a:stretch>
            <a:fillRect/>
          </a:stretch>
        </p:blipFill>
        <p:spPr>
          <a:xfrm>
            <a:off x="623085" y="2513208"/>
            <a:ext cx="9492465" cy="297511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E2CAC53-C651-83BB-52C1-2E7F59940658}"/>
              </a:ext>
            </a:extLst>
          </p:cNvPr>
          <p:cNvSpPr/>
          <p:nvPr/>
        </p:nvSpPr>
        <p:spPr>
          <a:xfrm rot="5400000">
            <a:off x="1805683" y="2188467"/>
            <a:ext cx="541533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D56F099-1B2E-B184-D922-3AF080110760}"/>
              </a:ext>
            </a:extLst>
          </p:cNvPr>
          <p:cNvSpPr/>
          <p:nvPr/>
        </p:nvSpPr>
        <p:spPr>
          <a:xfrm>
            <a:off x="189109" y="3784867"/>
            <a:ext cx="541533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DF18540-A03F-498A-5D59-8436712BDC7F}"/>
              </a:ext>
            </a:extLst>
          </p:cNvPr>
          <p:cNvSpPr/>
          <p:nvPr/>
        </p:nvSpPr>
        <p:spPr>
          <a:xfrm>
            <a:off x="208159" y="4327792"/>
            <a:ext cx="541533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72C71-8EA9-C3CC-17B2-38E25784E580}"/>
              </a:ext>
            </a:extLst>
          </p:cNvPr>
          <p:cNvSpPr txBox="1"/>
          <p:nvPr/>
        </p:nvSpPr>
        <p:spPr>
          <a:xfrm>
            <a:off x="1131094" y="5718860"/>
            <a:ext cx="80700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</a:rPr>
              <a:t>git</a:t>
            </a:r>
            <a:r>
              <a:rPr lang="en-US" sz="2200" dirty="0"/>
              <a:t> config --global </a:t>
            </a:r>
            <a:r>
              <a:rPr lang="en-US" sz="2200" dirty="0" err="1"/>
              <a:t>user.email</a:t>
            </a:r>
            <a:r>
              <a:rPr lang="en-US" sz="2200" dirty="0"/>
              <a:t> </a:t>
            </a:r>
            <a:r>
              <a:rPr lang="en-US" sz="2200" dirty="0">
                <a:effectLst/>
              </a:rPr>
              <a:t>"you@example.com"</a:t>
            </a:r>
            <a:r>
              <a:rPr lang="en-US" sz="2200" dirty="0"/>
              <a:t> </a:t>
            </a:r>
          </a:p>
          <a:p>
            <a:r>
              <a:rPr lang="en-US" sz="2200" dirty="0">
                <a:effectLst/>
              </a:rPr>
              <a:t>git</a:t>
            </a:r>
            <a:r>
              <a:rPr lang="en-US" sz="2200" dirty="0"/>
              <a:t> config --global user.name </a:t>
            </a:r>
            <a:r>
              <a:rPr lang="en-US" sz="2200" dirty="0">
                <a:effectLst/>
              </a:rPr>
              <a:t>"Your Name"</a:t>
            </a:r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155792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982DF-8DE2-874F-84F3-99403616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4E79-762E-E38A-7EBD-7232DF28A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438" y="3429000"/>
            <a:ext cx="11170922" cy="2387600"/>
          </a:xfrm>
        </p:spPr>
        <p:txBody>
          <a:bodyPr>
            <a:normAutofit/>
          </a:bodyPr>
          <a:lstStyle/>
          <a:p>
            <a:r>
              <a:rPr lang="en-CA" sz="5000" dirty="0"/>
              <a:t>Step 2: </a:t>
            </a:r>
            <a:r>
              <a:rPr lang="fr-CA" sz="5000" dirty="0"/>
              <a:t>Install </a:t>
            </a:r>
            <a:r>
              <a:rPr lang="fr-CA" sz="5000" b="1" dirty="0" err="1"/>
              <a:t>gitcreds</a:t>
            </a:r>
            <a:r>
              <a:rPr lang="fr-CA" sz="5000" dirty="0"/>
              <a:t> package in R Studio</a:t>
            </a:r>
            <a:endParaRPr lang="en-CA" sz="5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5CD39-1684-224A-DADE-ED89B137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8" b="10762"/>
          <a:stretch>
            <a:fillRect/>
          </a:stretch>
        </p:blipFill>
        <p:spPr>
          <a:xfrm>
            <a:off x="2143952" y="512761"/>
            <a:ext cx="7721213" cy="40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92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F0B1-0491-522B-7FD5-C047B4B5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A7FAE-F7C8-FD60-7CF8-02BE5CA4A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D2D4A-8790-2E19-69F2-05F00BC87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93284"/>
            <a:ext cx="12192000" cy="647143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CE157F8-4A3A-980E-3116-B867CD549013}"/>
              </a:ext>
            </a:extLst>
          </p:cNvPr>
          <p:cNvSpPr/>
          <p:nvPr/>
        </p:nvSpPr>
        <p:spPr>
          <a:xfrm>
            <a:off x="8453120" y="4155440"/>
            <a:ext cx="751840" cy="3352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5A4621A-DCD9-0FE7-C3E1-2D4E05E55575}"/>
              </a:ext>
            </a:extLst>
          </p:cNvPr>
          <p:cNvSpPr/>
          <p:nvPr/>
        </p:nvSpPr>
        <p:spPr>
          <a:xfrm rot="5400000">
            <a:off x="9123680" y="3366294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983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7F0A-0EBD-089A-2F65-363F31D2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861C4-178B-971E-0D74-29271DEBB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E06BE-9525-61CA-671D-564C55986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259" y="1502173"/>
            <a:ext cx="5079401" cy="37054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8C4621-0031-1943-AFC1-58588F760D18}"/>
              </a:ext>
            </a:extLst>
          </p:cNvPr>
          <p:cNvSpPr/>
          <p:nvPr/>
        </p:nvSpPr>
        <p:spPr>
          <a:xfrm>
            <a:off x="3273135" y="2971799"/>
            <a:ext cx="1423555" cy="2895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1C68FF-B88C-3EB8-F199-6DE37E7B084D}"/>
              </a:ext>
            </a:extLst>
          </p:cNvPr>
          <p:cNvSpPr/>
          <p:nvPr/>
        </p:nvSpPr>
        <p:spPr>
          <a:xfrm>
            <a:off x="5720080" y="4518343"/>
            <a:ext cx="1270000" cy="689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842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E100-311D-43CA-AEE9-0F9DB4C6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D9CE-B49F-0BB0-955B-E3B2F375A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38" y="4089400"/>
            <a:ext cx="11170922" cy="2387600"/>
          </a:xfrm>
        </p:spPr>
        <p:txBody>
          <a:bodyPr>
            <a:normAutofit/>
          </a:bodyPr>
          <a:lstStyle/>
          <a:p>
            <a:r>
              <a:rPr lang="en-CA" sz="5000" dirty="0"/>
              <a:t>Step 3: </a:t>
            </a:r>
            <a:r>
              <a:rPr lang="fr-CA" sz="5000" dirty="0" err="1"/>
              <a:t>Generate</a:t>
            </a:r>
            <a:r>
              <a:rPr lang="fr-CA" sz="5000" dirty="0"/>
              <a:t> a GitHub </a:t>
            </a:r>
            <a:r>
              <a:rPr lang="fr-CA" sz="5000" dirty="0" err="1"/>
              <a:t>Personal</a:t>
            </a:r>
            <a:r>
              <a:rPr lang="fr-CA" sz="5000" dirty="0"/>
              <a:t> Access </a:t>
            </a:r>
            <a:r>
              <a:rPr lang="fr-CA" sz="5000" dirty="0" err="1"/>
              <a:t>Token</a:t>
            </a:r>
            <a:endParaRPr lang="en-CA" sz="5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BE6B6-39AD-0524-5B07-0D388036E8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18" b="10762"/>
          <a:stretch>
            <a:fillRect/>
          </a:stretch>
        </p:blipFill>
        <p:spPr>
          <a:xfrm>
            <a:off x="2143952" y="512761"/>
            <a:ext cx="7721213" cy="40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86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F671-17D9-0CBC-7506-6586EBF8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5843-E5AC-8916-CBB0-3333AEAD7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9040B5-1BB8-5C61-FF35-93E10ACFE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617"/>
            <a:ext cx="12192000" cy="549534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D05DC77-5A2D-CD14-56D9-20B1F4D84361}"/>
              </a:ext>
            </a:extLst>
          </p:cNvPr>
          <p:cNvSpPr/>
          <p:nvPr/>
        </p:nvSpPr>
        <p:spPr>
          <a:xfrm>
            <a:off x="11461173" y="559407"/>
            <a:ext cx="779318" cy="689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8C3E3B-9FBE-15CA-F517-BFA64CBAC220}"/>
              </a:ext>
            </a:extLst>
          </p:cNvPr>
          <p:cNvSpPr/>
          <p:nvPr/>
        </p:nvSpPr>
        <p:spPr>
          <a:xfrm>
            <a:off x="9843131" y="3758322"/>
            <a:ext cx="927650" cy="3939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812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1F0A-14FA-FE0F-04F2-95CCB8B4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38538-94D2-9E97-61D4-5865E0FA0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E573A-F74E-5B76-4C2F-7F2C9EA9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07" y="0"/>
            <a:ext cx="11087785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D919A20-8B00-41F0-2368-DFF2282DD455}"/>
              </a:ext>
            </a:extLst>
          </p:cNvPr>
          <p:cNvSpPr/>
          <p:nvPr/>
        </p:nvSpPr>
        <p:spPr>
          <a:xfrm>
            <a:off x="1364150" y="5358521"/>
            <a:ext cx="1815468" cy="6833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2C009-06E0-4EAA-7E2A-E975EC703DB3}"/>
              </a:ext>
            </a:extLst>
          </p:cNvPr>
          <p:cNvSpPr txBox="1"/>
          <p:nvPr/>
        </p:nvSpPr>
        <p:spPr>
          <a:xfrm>
            <a:off x="6494318" y="0"/>
            <a:ext cx="16984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200" b="1" dirty="0">
                <a:solidFill>
                  <a:srgbClr val="FF0000"/>
                </a:solidFill>
              </a:rPr>
              <a:t>Scroll down</a:t>
            </a:r>
            <a:endParaRPr lang="en-CA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03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CEEF-04A2-0293-F3E2-5C44859D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9B370-7EDA-15BC-45A4-F5DF1019A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50E2E-B22C-AFC7-5A79-B76CE99AB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113"/>
            <a:ext cx="12192000" cy="512377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49D5542-D352-5E83-38B3-BABBD455C6A2}"/>
              </a:ext>
            </a:extLst>
          </p:cNvPr>
          <p:cNvSpPr/>
          <p:nvPr/>
        </p:nvSpPr>
        <p:spPr>
          <a:xfrm>
            <a:off x="626395" y="2438676"/>
            <a:ext cx="1607650" cy="5019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729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85A0-89C8-B8DD-2ACD-83377A56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38EF-A0D4-A2D5-8F2A-B1165B495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D6965-1B0D-B02F-B95A-87A0A176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61" y="637785"/>
            <a:ext cx="10412278" cy="558242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74BE864-43CB-1216-494E-C40C0D111988}"/>
              </a:ext>
            </a:extLst>
          </p:cNvPr>
          <p:cNvSpPr/>
          <p:nvPr/>
        </p:nvSpPr>
        <p:spPr>
          <a:xfrm>
            <a:off x="6764480" y="1782374"/>
            <a:ext cx="2847109" cy="9088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03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D889-CA24-F662-A83B-47FD88BE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98F32-75A0-8CD1-448D-7E8B64A68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7AEA5-AA89-FB14-2E49-2806BC16F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851" y="914049"/>
            <a:ext cx="4715533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85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5E15-C7BD-0D89-4465-F0AB274D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73F8-2509-8940-17C0-22249937C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C27AC-DE33-4D94-5168-DEC0D1DA7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22" y="0"/>
            <a:ext cx="10440956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3AED1F1-9747-0B0A-51FB-A722AC23248A}"/>
              </a:ext>
            </a:extLst>
          </p:cNvPr>
          <p:cNvSpPr/>
          <p:nvPr/>
        </p:nvSpPr>
        <p:spPr>
          <a:xfrm>
            <a:off x="955964" y="1690688"/>
            <a:ext cx="2441862" cy="4602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64E5C05-A937-97FD-8016-CE46A9A09346}"/>
              </a:ext>
            </a:extLst>
          </p:cNvPr>
          <p:cNvSpPr/>
          <p:nvPr/>
        </p:nvSpPr>
        <p:spPr>
          <a:xfrm>
            <a:off x="117764" y="2872048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B42537E-FEC6-56E2-1838-4E5348CB80DA}"/>
              </a:ext>
            </a:extLst>
          </p:cNvPr>
          <p:cNvSpPr/>
          <p:nvPr/>
        </p:nvSpPr>
        <p:spPr>
          <a:xfrm>
            <a:off x="176646" y="4416830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237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8C42-F12C-7DF8-9786-FF81ED880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C9148-FE49-5194-C3AD-1DA3BCE76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63"/>
          <a:stretch>
            <a:fillRect/>
          </a:stretch>
        </p:blipFill>
        <p:spPr>
          <a:xfrm>
            <a:off x="748146" y="1148604"/>
            <a:ext cx="10017188" cy="5344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D6E273-C305-0861-B317-305FE4ECFE9B}"/>
              </a:ext>
            </a:extLst>
          </p:cNvPr>
          <p:cNvSpPr txBox="1"/>
          <p:nvPr/>
        </p:nvSpPr>
        <p:spPr>
          <a:xfrm>
            <a:off x="748146" y="465593"/>
            <a:ext cx="22547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200" b="1" dirty="0"/>
              <a:t>Scroll to </a:t>
            </a:r>
            <a:r>
              <a:rPr lang="fr-CA" sz="2200" b="1" dirty="0" err="1"/>
              <a:t>bottom</a:t>
            </a:r>
            <a:endParaRPr lang="en-CA" sz="22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503804-250F-5419-7E04-D2F70EFE3C78}"/>
              </a:ext>
            </a:extLst>
          </p:cNvPr>
          <p:cNvSpPr/>
          <p:nvPr/>
        </p:nvSpPr>
        <p:spPr>
          <a:xfrm>
            <a:off x="1111827" y="5300254"/>
            <a:ext cx="2234046" cy="8182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357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AED4-9970-BA62-52DE-0A6F05986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29C7-03E8-97EB-BBC4-42D90C83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DDE674-DBF1-033B-7DBC-3ECDEF30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240"/>
            <a:ext cx="11970261" cy="340371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4541089-D002-8756-DFAF-0F960F48A39E}"/>
              </a:ext>
            </a:extLst>
          </p:cNvPr>
          <p:cNvSpPr/>
          <p:nvPr/>
        </p:nvSpPr>
        <p:spPr>
          <a:xfrm>
            <a:off x="5158812" y="4429878"/>
            <a:ext cx="826318" cy="8182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351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DEF9-2F00-D4C1-D2B7-75BD079F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8F5A-B2B3-94D8-7871-16D53391F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38" y="4089400"/>
            <a:ext cx="11170922" cy="2387600"/>
          </a:xfrm>
        </p:spPr>
        <p:txBody>
          <a:bodyPr>
            <a:normAutofit/>
          </a:bodyPr>
          <a:lstStyle/>
          <a:p>
            <a:r>
              <a:rPr lang="en-CA" sz="5000" dirty="0"/>
              <a:t>Step 4: </a:t>
            </a:r>
            <a:r>
              <a:rPr lang="fr-CA" sz="5400" dirty="0" err="1"/>
              <a:t>Load</a:t>
            </a:r>
            <a:r>
              <a:rPr lang="fr-CA" sz="5400" dirty="0"/>
              <a:t> </a:t>
            </a:r>
            <a:r>
              <a:rPr lang="fr-CA" sz="5400" dirty="0" err="1"/>
              <a:t>your</a:t>
            </a:r>
            <a:r>
              <a:rPr lang="fr-CA" sz="5400" dirty="0"/>
              <a:t> </a:t>
            </a:r>
            <a:r>
              <a:rPr lang="fr-CA" sz="5400" dirty="0" err="1"/>
              <a:t>token</a:t>
            </a:r>
            <a:r>
              <a:rPr lang="fr-CA" sz="5400" dirty="0"/>
              <a:t> </a:t>
            </a:r>
            <a:r>
              <a:rPr lang="fr-CA" sz="5400" dirty="0" err="1"/>
              <a:t>into</a:t>
            </a:r>
            <a:r>
              <a:rPr lang="fr-CA" sz="5400" dirty="0"/>
              <a:t> R Studio </a:t>
            </a:r>
            <a:r>
              <a:rPr lang="fr-CA" sz="5400" dirty="0" err="1"/>
              <a:t>using</a:t>
            </a:r>
            <a:r>
              <a:rPr lang="fr-CA" sz="5400" dirty="0"/>
              <a:t> </a:t>
            </a:r>
            <a:r>
              <a:rPr lang="fr-CA" sz="5400" b="1" dirty="0" err="1"/>
              <a:t>gitcreds_set</a:t>
            </a:r>
            <a:r>
              <a:rPr lang="fr-CA" sz="5400" b="1" dirty="0"/>
              <a:t>()</a:t>
            </a:r>
            <a:endParaRPr lang="en-CA" sz="5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4D64A-499E-75A6-ACB7-49AE43C1BE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18" b="10762"/>
          <a:stretch>
            <a:fillRect/>
          </a:stretch>
        </p:blipFill>
        <p:spPr>
          <a:xfrm>
            <a:off x="2143952" y="512761"/>
            <a:ext cx="7721213" cy="40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66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40F8-F483-7D56-BC36-4DCCCEFC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F3EA7-B9F9-C7F3-BBD4-7C6771294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C55CD-17FD-24A4-EBE0-084182608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799" y="1069061"/>
            <a:ext cx="6978402" cy="510790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75DC645-69D0-ECBD-DE84-2F5882840A1F}"/>
              </a:ext>
            </a:extLst>
          </p:cNvPr>
          <p:cNvSpPr/>
          <p:nvPr/>
        </p:nvSpPr>
        <p:spPr>
          <a:xfrm>
            <a:off x="1951479" y="3386792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081F03D-B815-EAA2-1D24-AD456B9190F5}"/>
              </a:ext>
            </a:extLst>
          </p:cNvPr>
          <p:cNvSpPr/>
          <p:nvPr/>
        </p:nvSpPr>
        <p:spPr>
          <a:xfrm rot="5400000">
            <a:off x="4146039" y="465137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618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2C45-DF2C-F62A-274B-1679571A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AF54-16E7-EFFB-7B49-8A065CD0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DA5A4-9495-A2ED-0FC7-7E4F3AE67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1" y="681037"/>
            <a:ext cx="9337741" cy="56649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B35FCC-6770-8CD5-B4AB-757606F08775}"/>
              </a:ext>
            </a:extLst>
          </p:cNvPr>
          <p:cNvSpPr/>
          <p:nvPr/>
        </p:nvSpPr>
        <p:spPr>
          <a:xfrm>
            <a:off x="1392382" y="2826327"/>
            <a:ext cx="2161309" cy="529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F54BD9-43EA-C4AE-5E82-B0DA1262FF96}"/>
              </a:ext>
            </a:extLst>
          </p:cNvPr>
          <p:cNvSpPr/>
          <p:nvPr/>
        </p:nvSpPr>
        <p:spPr>
          <a:xfrm>
            <a:off x="6504352" y="849385"/>
            <a:ext cx="963247" cy="6644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099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1B84-0793-1657-403B-6E5787F0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79519-11FD-F2AD-F521-7B10FE2A3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25" y="960348"/>
            <a:ext cx="12302418" cy="416029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125939B6-8040-1181-D04F-19CF0EF1B86B}"/>
              </a:ext>
            </a:extLst>
          </p:cNvPr>
          <p:cNvSpPr/>
          <p:nvPr/>
        </p:nvSpPr>
        <p:spPr>
          <a:xfrm rot="5400000">
            <a:off x="419100" y="2155349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059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DA75-B8C9-4776-BDD7-5F8A8689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3DA0-73E3-9961-500B-7DDF65A1A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539" y="4841240"/>
            <a:ext cx="11170922" cy="2387600"/>
          </a:xfrm>
        </p:spPr>
        <p:txBody>
          <a:bodyPr>
            <a:normAutofit/>
          </a:bodyPr>
          <a:lstStyle/>
          <a:p>
            <a:r>
              <a:rPr lang="en-CA" sz="5000" dirty="0"/>
              <a:t>Step 5: </a:t>
            </a:r>
            <a:r>
              <a:rPr lang="fr-CA" sz="5400" dirty="0" err="1"/>
              <a:t>Connect</a:t>
            </a:r>
            <a:r>
              <a:rPr lang="fr-CA" sz="5400" dirty="0"/>
              <a:t> to the repo for </a:t>
            </a:r>
            <a:r>
              <a:rPr lang="fr-CA" sz="5400" dirty="0" err="1"/>
              <a:t>this</a:t>
            </a:r>
            <a:r>
              <a:rPr lang="fr-CA" sz="5400" dirty="0"/>
              <a:t> workshop</a:t>
            </a:r>
            <a:br>
              <a:rPr lang="fr-CA" sz="5400" dirty="0"/>
            </a:br>
            <a:endParaRPr lang="en-CA" sz="5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E9DFB-BABD-AB90-08F5-3DACDD217B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18" b="10762"/>
          <a:stretch>
            <a:fillRect/>
          </a:stretch>
        </p:blipFill>
        <p:spPr>
          <a:xfrm>
            <a:off x="2143952" y="512761"/>
            <a:ext cx="7721213" cy="40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20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C386-B987-7A1F-1CFA-404D171C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EC7D2-903F-7437-0447-59FCD7110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0E9A0-DBD1-7932-89E7-99323184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5" y="0"/>
            <a:ext cx="5853369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BD007B6-318A-7203-B908-CC066F67A193}"/>
              </a:ext>
            </a:extLst>
          </p:cNvPr>
          <p:cNvSpPr/>
          <p:nvPr/>
        </p:nvSpPr>
        <p:spPr>
          <a:xfrm>
            <a:off x="3169315" y="564355"/>
            <a:ext cx="963247" cy="463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449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69BC-4563-C869-20B8-A2CC1143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9EAE6-E038-EB0A-A6B3-DE7FE735B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25477-035D-94D3-4EAD-AD51AFB3A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2" y="985496"/>
            <a:ext cx="6706536" cy="488700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A4C47A-A454-ABF5-0EC5-D62DA9D5904C}"/>
              </a:ext>
            </a:extLst>
          </p:cNvPr>
          <p:cNvSpPr/>
          <p:nvPr/>
        </p:nvSpPr>
        <p:spPr>
          <a:xfrm>
            <a:off x="2742732" y="3948545"/>
            <a:ext cx="6706536" cy="10704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964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47AA-20FE-B545-ED5F-970DFC75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EB1A7D-D7E1-6C32-DFDF-E7E74BCD6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259" y="1825625"/>
            <a:ext cx="6037481" cy="43513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D324BB-F22B-42A5-04B5-3CAFFCF1C86E}"/>
              </a:ext>
            </a:extLst>
          </p:cNvPr>
          <p:cNvSpPr/>
          <p:nvPr/>
        </p:nvSpPr>
        <p:spPr>
          <a:xfrm>
            <a:off x="3077259" y="2709025"/>
            <a:ext cx="6037481" cy="9993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568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0388-89E2-6300-09F6-D8A67E85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95BFD-0E08-D5FD-6F48-3D71C871A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734A4-B9AE-58AD-6E45-883DA8714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8" y="1"/>
            <a:ext cx="9572624" cy="685799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4BA173C-CCBC-1EA0-EF39-33C0F98EBCCB}"/>
              </a:ext>
            </a:extLst>
          </p:cNvPr>
          <p:cNvSpPr/>
          <p:nvPr/>
        </p:nvSpPr>
        <p:spPr>
          <a:xfrm>
            <a:off x="2784599" y="1985743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D38D946-E09F-B4D5-1E03-B3AA688780FE}"/>
              </a:ext>
            </a:extLst>
          </p:cNvPr>
          <p:cNvSpPr/>
          <p:nvPr/>
        </p:nvSpPr>
        <p:spPr>
          <a:xfrm>
            <a:off x="2784599" y="2878235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5F6B5EF-8038-D41D-7E8C-B70B0E820776}"/>
              </a:ext>
            </a:extLst>
          </p:cNvPr>
          <p:cNvSpPr/>
          <p:nvPr/>
        </p:nvSpPr>
        <p:spPr>
          <a:xfrm>
            <a:off x="2784599" y="3770727"/>
            <a:ext cx="838200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AA9C2D-5518-D866-8A04-A5CEDCD4E78E}"/>
              </a:ext>
            </a:extLst>
          </p:cNvPr>
          <p:cNvSpPr/>
          <p:nvPr/>
        </p:nvSpPr>
        <p:spPr>
          <a:xfrm>
            <a:off x="7314595" y="6070996"/>
            <a:ext cx="1859885" cy="6646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430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9A3A-CA50-2906-5564-5A75E1A5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E21E8-3EAE-ACF5-EB55-B7678B6E2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A324BA-6B20-9021-7663-735EE8DB5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02" y="0"/>
            <a:ext cx="11551595" cy="685800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15A07C8-3722-BDEB-0C0B-1EB1548B8997}"/>
              </a:ext>
            </a:extLst>
          </p:cNvPr>
          <p:cNvSpPr/>
          <p:nvPr/>
        </p:nvSpPr>
        <p:spPr>
          <a:xfrm rot="5400000">
            <a:off x="7734891" y="383073"/>
            <a:ext cx="467696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5C203A-70FD-731F-E2E3-7FC2AAAB7899}"/>
              </a:ext>
            </a:extLst>
          </p:cNvPr>
          <p:cNvSpPr/>
          <p:nvPr/>
        </p:nvSpPr>
        <p:spPr>
          <a:xfrm>
            <a:off x="10438632" y="365125"/>
            <a:ext cx="1433165" cy="6646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2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D127-69D6-B034-94EA-E6D4D3A2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B555-05A1-572A-2A61-3BAADB29A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8159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3200" dirty="0"/>
              <a:t>Check out </a:t>
            </a:r>
            <a:r>
              <a:rPr lang="fr-CA" sz="3200" dirty="0" err="1"/>
              <a:t>your</a:t>
            </a:r>
            <a:r>
              <a:rPr lang="fr-CA" sz="3200" dirty="0"/>
              <a:t> </a:t>
            </a:r>
            <a:r>
              <a:rPr lang="fr-CA" sz="3200" dirty="0" err="1"/>
              <a:t>fancy</a:t>
            </a:r>
            <a:r>
              <a:rPr lang="fr-CA" sz="3200" dirty="0"/>
              <a:t> new git pane!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570B9-5CDB-883F-5ED3-4DAD578478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68" t="7259" b="57333"/>
          <a:stretch>
            <a:fillRect/>
          </a:stretch>
        </p:blipFill>
        <p:spPr>
          <a:xfrm>
            <a:off x="357640" y="1690688"/>
            <a:ext cx="11894756" cy="449675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F5067E3-049A-F7D3-288D-6B627D3413E4}"/>
              </a:ext>
            </a:extLst>
          </p:cNvPr>
          <p:cNvSpPr/>
          <p:nvPr/>
        </p:nvSpPr>
        <p:spPr>
          <a:xfrm rot="5400000">
            <a:off x="1979188" y="2252654"/>
            <a:ext cx="873461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892BE0F-D784-F1E0-0F14-AFD38E611199}"/>
              </a:ext>
            </a:extLst>
          </p:cNvPr>
          <p:cNvSpPr/>
          <p:nvPr/>
        </p:nvSpPr>
        <p:spPr>
          <a:xfrm rot="5400000">
            <a:off x="3322009" y="2252653"/>
            <a:ext cx="873461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01FE9E-24BC-9256-96C9-28D85D52690D}"/>
              </a:ext>
            </a:extLst>
          </p:cNvPr>
          <p:cNvSpPr/>
          <p:nvPr/>
        </p:nvSpPr>
        <p:spPr>
          <a:xfrm rot="5400000">
            <a:off x="4540646" y="2252653"/>
            <a:ext cx="873461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191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BF60-60C8-3544-36FF-0781EA2A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7DAFC-89A1-2E84-B035-A0D962529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75347-B71E-70CE-BA84-EBA8E3A7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40" y="966444"/>
            <a:ext cx="9269119" cy="49251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F8F8FC-3263-9C4B-8A33-79C8E8F75CCD}"/>
              </a:ext>
            </a:extLst>
          </p:cNvPr>
          <p:cNvSpPr/>
          <p:nvPr/>
        </p:nvSpPr>
        <p:spPr>
          <a:xfrm>
            <a:off x="1194740" y="2019976"/>
            <a:ext cx="3643960" cy="5440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630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7641C-8382-BF8F-F9AC-EA76D529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9F6D6-3002-9DDE-1A44-285418F67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27DDC-DCF7-EC15-E6B8-29E0E8310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1075996"/>
            <a:ext cx="8964276" cy="470600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178B82-1221-E5D1-AE31-5F39A8F9E8C3}"/>
              </a:ext>
            </a:extLst>
          </p:cNvPr>
          <p:cNvSpPr/>
          <p:nvPr/>
        </p:nvSpPr>
        <p:spPr>
          <a:xfrm>
            <a:off x="3548833" y="2710640"/>
            <a:ext cx="1820835" cy="4897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82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BC936-7A9F-5457-DB54-94EEADC63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080" y="2326640"/>
            <a:ext cx="9144000" cy="2387600"/>
          </a:xfrm>
        </p:spPr>
        <p:txBody>
          <a:bodyPr>
            <a:normAutofit/>
          </a:bodyPr>
          <a:lstStyle/>
          <a:p>
            <a:r>
              <a:rPr lang="en-CA" sz="11000" dirty="0">
                <a:latin typeface="Blackadder ITC" panose="04020505051007020D02" pitchFamily="82" charset="0"/>
              </a:rPr>
              <a:t>Exquisite Corpse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A16C667-DDF7-6DE0-511E-0C5D31A42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040" y="2078038"/>
            <a:ext cx="9144000" cy="1655762"/>
          </a:xfrm>
        </p:spPr>
        <p:txBody>
          <a:bodyPr>
            <a:normAutofit/>
          </a:bodyPr>
          <a:lstStyle/>
          <a:p>
            <a:r>
              <a:rPr lang="en-CA" sz="8000" dirty="0">
                <a:latin typeface="Blackadder ITC" panose="04020505051007020D02" pitchFamily="82" charset="0"/>
              </a:rPr>
              <a:t>time for an</a:t>
            </a:r>
          </a:p>
        </p:txBody>
      </p:sp>
    </p:spTree>
    <p:extLst>
      <p:ext uri="{BB962C8B-B14F-4D97-AF65-F5344CB8AC3E}">
        <p14:creationId xmlns:p14="http://schemas.microsoft.com/office/powerpoint/2010/main" val="312336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</TotalTime>
  <Words>330</Words>
  <Application>Microsoft Office PowerPoint</Application>
  <PresentationFormat>Widescreen</PresentationFormat>
  <Paragraphs>59</Paragraphs>
  <Slides>40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Blackadder ITC</vt:lpstr>
      <vt:lpstr>Office Theme</vt:lpstr>
      <vt:lpstr>GitHub &amp; Rstudio workshop</vt:lpstr>
      <vt:lpstr>Pre-workshop assignments</vt:lpstr>
      <vt:lpstr>Goals of this workshop</vt:lpstr>
      <vt:lpstr>Definitions</vt:lpstr>
      <vt:lpstr>Why use GitHub?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1: Link Git to RStudio</vt:lpstr>
      <vt:lpstr>PowerPoint Presentation</vt:lpstr>
      <vt:lpstr>PowerPoint Presentation</vt:lpstr>
      <vt:lpstr>Step 2</vt:lpstr>
      <vt:lpstr>Step 2: Install gitcreds package in R Studio</vt:lpstr>
      <vt:lpstr>PowerPoint Presentation</vt:lpstr>
      <vt:lpstr>PowerPoint Presentation</vt:lpstr>
      <vt:lpstr>Step 3: Generate a GitHub Personal Access Token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4: Load your token into R Studio using gitcreds_set()</vt:lpstr>
      <vt:lpstr>PowerPoint Presentation</vt:lpstr>
      <vt:lpstr>PowerPoint Presentation</vt:lpstr>
      <vt:lpstr>PowerPoint Presentation</vt:lpstr>
      <vt:lpstr>Step 5: Connect to the repo for this workshop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Exquisite Corpse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Jaclyn Aubin</dc:creator>
  <cp:lastModifiedBy>Jaclyn Aubin</cp:lastModifiedBy>
  <cp:revision>8</cp:revision>
  <dcterms:created xsi:type="dcterms:W3CDTF">2026-02-27T14:40:38Z</dcterms:created>
  <dcterms:modified xsi:type="dcterms:W3CDTF">2026-03-19T15:50:05Z</dcterms:modified>
</cp:coreProperties>
</file>